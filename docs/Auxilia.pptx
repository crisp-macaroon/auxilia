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lear Sans" charset="1" panose="020B0503030202020304"/>
      <p:regular r:id="rId18"/>
    </p:embeddedFont>
    <p:embeddedFont>
      <p:font typeface="Sansation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13428" y="5542466"/>
            <a:ext cx="8261144" cy="134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AI-Powered Parametric Income Protection for Gig Workers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92987" y="3105150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AUXILIA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08650" y="2928726"/>
            <a:ext cx="12070701" cy="634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Gig workers lose earnings during active shifts when disruptions hit — rain, traffic, road incidents, low demand.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No existing protection is built for short 10–20 min delivery windows.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City-wide insurance averages ignore zone-level risk differences.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Gig workers are reluctant to trust a new financial platform with their personal and payment data</a:t>
            </a:r>
          </a:p>
          <a:p>
            <a:pPr algn="l">
              <a:lnSpc>
                <a:spcPts val="50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96021" y="1219112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08650" y="4205076"/>
            <a:ext cx="12070701" cy="379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Weekly income-protection platform for Q-commerce and food delivery riders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 parametric model with predefined triggers, that facilitates automatic claim evaluation and fast payout.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Purely intended for operational disruption coverage</a:t>
            </a:r>
          </a:p>
          <a:p>
            <a:pPr algn="l">
              <a:lnSpc>
                <a:spcPts val="50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99372" y="2275922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WHAT IS AUXILIA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9372" y="2133866"/>
            <a:ext cx="1168925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HOW IT WORKS?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3796" y="4075551"/>
            <a:ext cx="9832326" cy="60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Rider buys weekly coverage via the 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67294" y="4151751"/>
            <a:ext cx="812569" cy="65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15"/>
              </a:lnSpc>
              <a:spcBef>
                <a:spcPct val="0"/>
              </a:spcBef>
            </a:pPr>
            <a:r>
              <a:rPr lang="en-US" b="true" sz="4179" spc="41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4871" y="5048250"/>
            <a:ext cx="9832326" cy="124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Backend continuously monitors live disruption signals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37351" y="5115335"/>
            <a:ext cx="742512" cy="5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3"/>
              </a:lnSpc>
              <a:spcBef>
                <a:spcPct val="0"/>
              </a:spcBef>
            </a:pPr>
            <a:r>
              <a:rPr lang="en-US" b="true" sz="3819" spc="3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7351" y="6639720"/>
            <a:ext cx="742512" cy="5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3"/>
              </a:lnSpc>
              <a:spcBef>
                <a:spcPct val="0"/>
              </a:spcBef>
            </a:pPr>
            <a:r>
              <a:rPr lang="en-US" b="true" sz="3819" spc="3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4871" y="6544470"/>
            <a:ext cx="9832326" cy="124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Rider submits a claim; fraud checks run automatically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67294" y="8045937"/>
            <a:ext cx="742512" cy="58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3"/>
              </a:lnSpc>
              <a:spcBef>
                <a:spcPct val="0"/>
              </a:spcBef>
            </a:pPr>
            <a:r>
              <a:rPr lang="en-US" b="true" sz="3819" spc="3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4.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47705" y="8014523"/>
            <a:ext cx="9832326" cy="124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2"/>
              </a:lnSpc>
              <a:spcBef>
                <a:spcPct val="0"/>
              </a:spcBef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Eligible claims are paid out instantly via simulated settlement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89971" y="46876"/>
            <a:ext cx="13906835" cy="138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16"/>
              </a:lnSpc>
              <a:spcBef>
                <a:spcPct val="0"/>
              </a:spcBef>
            </a:pPr>
            <a:r>
              <a:rPr lang="en-US" b="true" sz="9014" spc="9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KEY DIFFERENTIATORS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3823" y="1928725"/>
            <a:ext cx="13792983" cy="762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Zone first logic : risk is evaluated  at delivery zone level, not city average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Multi trigger model : Takes rain , traffic, road incidents and low demand surge into account.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Short window tuned : Focuses on 10 20 min delivery cycles.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Explainable claims: Transparent check by check status visible to ride and admin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Privacy-first design : anonymous logs used for risk prediction and payment processing, minimizing personal data exposure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Loyalty rewards : continuous usage is rewarded with loyalty points, building long-term trust and reducing churn</a:t>
            </a:r>
          </a:p>
          <a:p>
            <a:pPr algn="l">
              <a:lnSpc>
                <a:spcPts val="503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08650" y="3885989"/>
            <a:ext cx="12070701" cy="443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Rider App for onboarding, policy purchase, claim submission, live coverage card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Admin Dashboard for  onboarding, policy purchase, claim submission, live coverage card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FastAPI backend for risk scoring, fraud agent, payout agent, trigger polling, analytics APIs</a:t>
            </a:r>
          </a:p>
          <a:p>
            <a:pPr algn="ctr" marL="0" indent="0" lvl="0">
              <a:lnSpc>
                <a:spcPts val="503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5667" y="2014450"/>
            <a:ext cx="1860727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29"/>
              </a:lnSpc>
              <a:spcBef>
                <a:spcPct val="0"/>
              </a:spcBef>
            </a:pPr>
            <a:r>
              <a:rPr lang="en-US" b="true" sz="9857" spc="9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PLATFORM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5650" y="2026421"/>
            <a:ext cx="14021913" cy="7643847"/>
          </a:xfrm>
          <a:custGeom>
            <a:avLst/>
            <a:gdLst/>
            <a:ahLst/>
            <a:cxnLst/>
            <a:rect r="r" b="b" t="t" l="l"/>
            <a:pathLst>
              <a:path h="7643847" w="14021913">
                <a:moveTo>
                  <a:pt x="0" y="0"/>
                </a:moveTo>
                <a:lnTo>
                  <a:pt x="14021912" y="0"/>
                </a:lnTo>
                <a:lnTo>
                  <a:pt x="14021912" y="7643847"/>
                </a:lnTo>
                <a:lnTo>
                  <a:pt x="0" y="7643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5955" y="271463"/>
            <a:ext cx="18607271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29"/>
              </a:lnSpc>
              <a:spcBef>
                <a:spcPct val="0"/>
              </a:spcBef>
            </a:pPr>
            <a:r>
              <a:rPr lang="en-US" b="true" sz="9857" spc="9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151130"/>
            <a:ext cx="16418978" cy="5243170"/>
          </a:xfrm>
          <a:custGeom>
            <a:avLst/>
            <a:gdLst/>
            <a:ahLst/>
            <a:cxnLst/>
            <a:rect r="r" b="b" t="t" l="l"/>
            <a:pathLst>
              <a:path h="5243170" w="16418978">
                <a:moveTo>
                  <a:pt x="0" y="0"/>
                </a:moveTo>
                <a:lnTo>
                  <a:pt x="16418978" y="0"/>
                </a:lnTo>
                <a:lnTo>
                  <a:pt x="16418978" y="5243169"/>
                </a:lnTo>
                <a:lnTo>
                  <a:pt x="0" y="5243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99372" y="1290550"/>
            <a:ext cx="11689257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9"/>
              </a:lnSpc>
              <a:spcBef>
                <a:spcPct val="0"/>
              </a:spcBef>
            </a:pPr>
            <a:r>
              <a:rPr lang="en-US" b="true" sz="9557" spc="95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PRODUCT 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54536" y="1297399"/>
            <a:ext cx="133808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30"/>
              </a:lnSpc>
              <a:spcBef>
                <a:spcPct val="0"/>
              </a:spcBef>
            </a:pPr>
            <a:r>
              <a:rPr lang="en-US" b="true" sz="7858" spc="78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CLAIM PROCESSING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9586" y="3561342"/>
            <a:ext cx="12070701" cy="443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Rider submits claim → trigger snapshot stored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Fraud agent runs: location · duplicate/frequency  trigger evidence · behavior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Eligible → payout agent calculates amount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Instant payout simulated (Razorpay-compatible)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Status updated in both rider and admin views</a:t>
            </a:r>
          </a:p>
          <a:p>
            <a:pPr algn="l">
              <a:lnSpc>
                <a:spcPts val="503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61013" y="3761190"/>
            <a:ext cx="12070701" cy="379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ML-based risk scoring + premium pricing using live disruption signals + rider/zone context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Delivery-specific fraud detection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Predictive analytics: next-week claim volume forecast by zone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Premium preview shown to rider before purchase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90786" y="2014450"/>
            <a:ext cx="1431238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9"/>
              </a:lnSpc>
              <a:spcBef>
                <a:spcPct val="0"/>
              </a:spcBef>
            </a:pPr>
            <a:r>
              <a:rPr lang="en-US" b="true" sz="10457" spc="104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INTELLIGENCE LAYER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09586" y="1772736"/>
            <a:ext cx="1168925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69"/>
              </a:lnSpc>
              <a:spcBef>
                <a:spcPct val="0"/>
              </a:spcBef>
            </a:pPr>
            <a:r>
              <a:rPr lang="en-US" b="true" sz="11057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WHAT WE BUILT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9586" y="3880430"/>
            <a:ext cx="12070701" cy="379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Fully functional rider app with auth, policy, claims flow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Admin dashboard with fraud review and live KPIs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Seeded demo data + model artifacts ready to run</a:t>
            </a:r>
          </a:p>
          <a:p>
            <a:pPr algn="l" marL="724331" indent="-362166" lvl="1">
              <a:lnSpc>
                <a:spcPts val="5032"/>
              </a:lnSpc>
              <a:buFont typeface="Arial"/>
              <a:buChar char="•"/>
            </a:pPr>
            <a:r>
              <a:rPr lang="en-US" sz="3354" spc="10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REST APIs across auth, policies, claims, payments, triggers, zones</a:t>
            </a:r>
          </a:p>
          <a:p>
            <a:pPr algn="l">
              <a:lnSpc>
                <a:spcPts val="503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0087" y="7557666"/>
            <a:ext cx="3596109" cy="3596109"/>
          </a:xfrm>
          <a:custGeom>
            <a:avLst/>
            <a:gdLst/>
            <a:ahLst/>
            <a:cxnLst/>
            <a:rect r="r" b="b" t="t" l="l"/>
            <a:pathLst>
              <a:path h="3596109" w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6122" y="-1528762"/>
            <a:ext cx="4149223" cy="4149223"/>
          </a:xfrm>
          <a:custGeom>
            <a:avLst/>
            <a:gdLst/>
            <a:ahLst/>
            <a:cxnLst/>
            <a:rect r="r" b="b" t="t" l="l"/>
            <a:pathLst>
              <a:path h="4149223" w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7659" y="-563061"/>
            <a:ext cx="3293680" cy="2587036"/>
          </a:xfrm>
          <a:custGeom>
            <a:avLst/>
            <a:gdLst/>
            <a:ahLst/>
            <a:cxnLst/>
            <a:rect r="r" b="b" t="t" l="l"/>
            <a:pathLst>
              <a:path h="2587036" w="3293680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20253" y="7788247"/>
            <a:ext cx="3216752" cy="3205055"/>
          </a:xfrm>
          <a:custGeom>
            <a:avLst/>
            <a:gdLst/>
            <a:ahLst/>
            <a:cxnLst/>
            <a:rect r="r" b="b" t="t" l="l"/>
            <a:pathLst>
              <a:path h="3205055" w="3216752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1714" y="8285665"/>
            <a:ext cx="2096915" cy="682451"/>
          </a:xfrm>
          <a:custGeom>
            <a:avLst/>
            <a:gdLst/>
            <a:ahLst/>
            <a:cxnLst/>
            <a:rect r="r" b="b" t="t" l="l"/>
            <a:pathLst>
              <a:path h="682451" w="2096915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30668" y="1427489"/>
            <a:ext cx="2179849" cy="1192972"/>
          </a:xfrm>
          <a:custGeom>
            <a:avLst/>
            <a:gdLst/>
            <a:ahLst/>
            <a:cxnLst/>
            <a:rect r="r" b="b" t="t" l="l"/>
            <a:pathLst>
              <a:path h="1192972" w="2179849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9372" y="5221503"/>
            <a:ext cx="11689257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69"/>
              </a:lnSpc>
              <a:spcBef>
                <a:spcPct val="0"/>
              </a:spcBef>
            </a:pPr>
            <a:r>
              <a:rPr lang="en-US" b="true" sz="11057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1662" y="3370047"/>
            <a:ext cx="896467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76"/>
              </a:lnSpc>
              <a:spcBef>
                <a:spcPct val="0"/>
              </a:spcBef>
            </a:pPr>
            <a:r>
              <a:rPr lang="en-US" b="true" sz="13313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DAHHGyr4x3s</dc:identifier>
  <dcterms:modified xsi:type="dcterms:W3CDTF">2011-08-01T06:04:30Z</dcterms:modified>
  <cp:revision>1</cp:revision>
  <dc:title>Auxilia</dc:title>
</cp:coreProperties>
</file>